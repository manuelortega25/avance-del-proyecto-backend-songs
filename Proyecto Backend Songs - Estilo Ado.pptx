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Montserrat SemiBold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Montserrat Light"/>
      <p:regular r:id="rId25"/>
      <p:bold r:id="rId26"/>
      <p:italic r:id="rId27"/>
      <p:boldItalic r:id="rId28"/>
    </p:embeddedFont>
    <p:embeddedFont>
      <p:font typeface="Oswald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Light-bold.fntdata"/><Relationship Id="rId25" Type="http://schemas.openxmlformats.org/officeDocument/2006/relationships/font" Target="fonts/MontserratLight-regular.fntdata"/><Relationship Id="rId28" Type="http://schemas.openxmlformats.org/officeDocument/2006/relationships/font" Target="fonts/MontserratLight-boldItalic.fntdata"/><Relationship Id="rId27" Type="http://schemas.openxmlformats.org/officeDocument/2006/relationships/font" Target="fonts/Montserrat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Oswa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MontserratSemiBold-italic.fntdata"/><Relationship Id="rId18" Type="http://schemas.openxmlformats.org/officeDocument/2006/relationships/font" Target="fonts/Montserra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10" Type="http://schemas.openxmlformats.org/officeDocument/2006/relationships/image" Target="../media/image21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2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Relationship Id="rId7" Type="http://schemas.openxmlformats.org/officeDocument/2006/relationships/image" Target="../media/image14.png"/><Relationship Id="rId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Relationship Id="rId7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9" Type="http://schemas.openxmlformats.org/officeDocument/2006/relationships/image" Target="../media/image33.png"/><Relationship Id="rId5" Type="http://schemas.openxmlformats.org/officeDocument/2006/relationships/image" Target="../media/image24.png"/><Relationship Id="rId6" Type="http://schemas.openxmlformats.org/officeDocument/2006/relationships/image" Target="../media/image35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5" Type="http://schemas.openxmlformats.org/officeDocument/2006/relationships/image" Target="../media/image41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71525" y="1651694"/>
            <a:ext cx="4790598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BACKEND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3B82F6"/>
                </a:solidFill>
                <a:latin typeface="Oswald"/>
                <a:ea typeface="Oswald"/>
                <a:cs typeface="Oswald"/>
                <a:sym typeface="Oswald"/>
              </a:rPr>
              <a:t>SONGS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62025" y="4280594"/>
            <a:ext cx="437197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Tema: Avance del proyecto final – MVP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94A3B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Tecnologías: Node.js + Express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94A3B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Entidad principal: Songs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771525" y="4280594"/>
            <a:ext cx="19050" cy="10970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/>
          <p:nvPr/>
        </p:nvSpPr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14600"/>
            <a:ext cx="532447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14600"/>
            <a:ext cx="532447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867275"/>
            <a:ext cx="532447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867275"/>
            <a:ext cx="5324475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81025" y="182880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Quiero desarrollar un backend donde se puedan almacenar de forma local canciones.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76300" y="2809875"/>
            <a:ext cx="497062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Oswald"/>
                <a:ea typeface="Oswald"/>
                <a:cs typeface="Oswald"/>
                <a:sym typeface="Oswald"/>
              </a:rPr>
              <a:t>GET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76300" y="3390900"/>
            <a:ext cx="4733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Para listar las canciones registradas en el sistema de forma local.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81775" y="2809875"/>
            <a:ext cx="497062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Oswald"/>
                <a:ea typeface="Oswald"/>
                <a:cs typeface="Oswald"/>
                <a:sym typeface="Oswald"/>
              </a:rPr>
              <a:t>POST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81775" y="3390900"/>
            <a:ext cx="4733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Para capturar las canciones nuevas. Se enviarán objetos JSON desde Postman.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76300" y="5162550"/>
            <a:ext cx="497062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Oswald"/>
                <a:ea typeface="Oswald"/>
                <a:cs typeface="Oswald"/>
                <a:sym typeface="Oswald"/>
              </a:rPr>
              <a:t>PUT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76300" y="5743575"/>
            <a:ext cx="4733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Actualizar la información de las canciones existentes en el catálogo.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81775" y="5162550"/>
            <a:ext cx="497062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Oswald"/>
                <a:ea typeface="Oswald"/>
                <a:cs typeface="Oswald"/>
                <a:sym typeface="Oswald"/>
              </a:rPr>
              <a:t>DELETE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581775" y="5743575"/>
            <a:ext cx="473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Eliminar las canciones existentes </a:t>
            </a:r>
            <a:r>
              <a:rPr lang="en-US" sz="1500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seleccionandolas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por su ID único.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895600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2895600"/>
            <a:ext cx="3524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6300" y="5248275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5248275"/>
            <a:ext cx="2571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771525" y="581025"/>
            <a:ext cx="11381422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¿QUÉ QUIERES DESARROLLAR?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581025" y="581025"/>
            <a:ext cx="47625" cy="6762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/>
          <p:nvPr/>
        </p:nvSpPr>
        <p:spPr>
          <a:xfrm>
            <a:off x="409575" y="1619250"/>
            <a:ext cx="4943400" cy="129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885825" y="1809750"/>
            <a:ext cx="4276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Necesidad de API: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Resuelve la falta de un sistema para consultar y administrar un catálogo exclusivo de canciones de Ado.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962025" y="1790700"/>
            <a:ext cx="28575" cy="129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029325" y="1619250"/>
            <a:ext cx="4943400" cy="129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6505575" y="1809750"/>
            <a:ext cx="4276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Centralización: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Permite unificar la información básica (nombre, duración, enlace) en un solo lugar.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962025" y="3276600"/>
            <a:ext cx="28575" cy="129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552488" y="3674263"/>
            <a:ext cx="4943400" cy="129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1028738" y="3864763"/>
            <a:ext cx="4276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Base Sólida: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Este MVP es la piedra angular para desarrollar el sistema completo en el futuro.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962025" y="4762500"/>
            <a:ext cx="28575" cy="129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6029288" y="3826675"/>
            <a:ext cx="4943400" cy="990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6505538" y="4017175"/>
            <a:ext cx="4276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Gestión Personal: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Diseñado para administración personal del catálogo.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962025" y="6248400"/>
            <a:ext cx="28575" cy="990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20240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35099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49958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648176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771525" y="581025"/>
            <a:ext cx="11381422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¿QUÉ PROBLEMA RESUELVE?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581025" y="581025"/>
            <a:ext cx="47625" cy="6762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2025491" y="461069"/>
            <a:ext cx="8141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¿A QUIÉN VA DIRIGIDO?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381625" y="1870769"/>
            <a:ext cx="1428900" cy="573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3990975" y="2308919"/>
            <a:ext cx="401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3C5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Personas fanáticas de </a:t>
            </a:r>
            <a:r>
              <a:rPr b="1" i="0" lang="en-US" sz="2400" u="none" cap="none" strike="noStrik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Ado</a:t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988" y="3059075"/>
            <a:ext cx="2337675" cy="233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6610350" y="2940546"/>
            <a:ext cx="5250656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ALMACENAMIENTO LOCAL CRUD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610350" y="3649116"/>
            <a:ext cx="500062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Operaciones completas que incluyan Endpoints que lancen los códigos de estado HTTP correctos para cada situación.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771525" y="581025"/>
            <a:ext cx="11381422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ENFOQUE PRINCIPAL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81025" y="581025"/>
            <a:ext cx="47625" cy="6762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347" r="347" t="0"/>
          <a:stretch/>
        </p:blipFill>
        <p:spPr>
          <a:xfrm>
            <a:off x="1094574" y="1806250"/>
            <a:ext cx="3368600" cy="421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76512"/>
            <a:ext cx="2543175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2576512"/>
            <a:ext cx="2543175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576512"/>
            <a:ext cx="2543175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67800" y="2576512"/>
            <a:ext cx="2543175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827484" y="3529012"/>
            <a:ext cx="205025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Oswald"/>
                <a:ea typeface="Oswald"/>
                <a:cs typeface="Oswald"/>
                <a:sym typeface="Oswald"/>
              </a:rPr>
              <a:t>ID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76300" y="4110037"/>
            <a:ext cx="19526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Generado y manejado por el backend utilizando la posición del arreglo.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3656409" y="3529012"/>
            <a:ext cx="205025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Oswald"/>
                <a:ea typeface="Oswald"/>
                <a:cs typeface="Oswald"/>
                <a:sym typeface="Oswald"/>
              </a:rPr>
              <a:t>NOMBRE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3705225" y="4110037"/>
            <a:ext cx="1952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El título oficial de la pista o canción de Ado.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485334" y="3529012"/>
            <a:ext cx="205025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Oswald"/>
                <a:ea typeface="Oswald"/>
                <a:cs typeface="Oswald"/>
                <a:sym typeface="Oswald"/>
              </a:rPr>
              <a:t>DURACIÓN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534150" y="4110037"/>
            <a:ext cx="1952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Tiempo de reproducción de la canción.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314259" y="3529012"/>
            <a:ext cx="205025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Oswald"/>
                <a:ea typeface="Oswald"/>
                <a:cs typeface="Oswald"/>
                <a:sym typeface="Oswald"/>
              </a:rPr>
              <a:t>URL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9363075" y="4110037"/>
            <a:ext cx="1952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Enlace al recurso de la canción.</a:t>
            </a:r>
            <a:endParaRPr/>
          </a:p>
        </p:txBody>
      </p:sp>
      <p:pic>
        <p:nvPicPr>
          <p:cNvPr descr="image.png" id="174" name="Google Shape;17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62112" y="29098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91037" y="29098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19962" y="29098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01262" y="290988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771525" y="581025"/>
            <a:ext cx="11381422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PRODUCTO MÍNIMO VIABLE (MVP)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581025" y="581025"/>
            <a:ext cx="47625" cy="6762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81025" y="182880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¿Qué es lo mínimo que debe funcionar? Estructura de la canción: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/>
          <p:nvPr/>
        </p:nvSpPr>
        <p:spPr>
          <a:xfrm>
            <a:off x="581025" y="2471737"/>
            <a:ext cx="5372100" cy="129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1057275" y="2662237"/>
            <a:ext cx="4705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GET - Mostrar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Visualizar las canciones registradas de forma local.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581025" y="2471737"/>
            <a:ext cx="28575" cy="129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81025" y="3957637"/>
            <a:ext cx="5372100" cy="129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1057275" y="4148137"/>
            <a:ext cx="4705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- Agregar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Enviar JSON vía Postman (nombre, duración, URL).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581025" y="3957637"/>
            <a:ext cx="28575" cy="129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6238875" y="2471737"/>
            <a:ext cx="5372100" cy="129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6715125" y="2662237"/>
            <a:ext cx="4705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PUT - Actualizar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Modificar datos de canciones usando su ID en Postman.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6238875" y="2471737"/>
            <a:ext cx="28575" cy="129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6238875" y="3957637"/>
            <a:ext cx="5372100" cy="129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6715125" y="4148137"/>
            <a:ext cx="4705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DELETE - Eliminar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Borrar canciones de la base de datos local mediante ID.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6238875" y="3957637"/>
            <a:ext cx="28575" cy="129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8" name="Google Shape;19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2705100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4191000"/>
            <a:ext cx="1619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0325" y="27051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10325" y="4191000"/>
            <a:ext cx="1238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771525" y="581025"/>
            <a:ext cx="11381422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OPERACIONES DEL MVP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81025" y="581025"/>
            <a:ext cx="47625" cy="6762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671637"/>
            <a:ext cx="53244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5550" y="1690687"/>
            <a:ext cx="52863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/>
          <p:nvPr/>
        </p:nvSpPr>
        <p:spPr>
          <a:xfrm>
            <a:off x="581025" y="1824037"/>
            <a:ext cx="5324475" cy="990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1057275" y="2014537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Validación: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Mostrar mensajes de error claros cuando se realice una solicitud incoherente.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81025" y="1824037"/>
            <a:ext cx="28575" cy="990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581025" y="3005137"/>
            <a:ext cx="5324475" cy="990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1057275" y="3195637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Consistencia: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Uso claro y consistente de arreglos para la manipulación de datos.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581025" y="3005137"/>
            <a:ext cx="28575" cy="990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581025" y="4186237"/>
            <a:ext cx="5324475" cy="990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1057275" y="4376737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Stack: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Desarrollado íntegramente con Node.js y Express.</a:t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581025" y="4186237"/>
            <a:ext cx="28575" cy="990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581025" y="5367337"/>
            <a:ext cx="5324475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1057275" y="5557837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Entidad: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Foco total en la entidad "songs".</a:t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581025" y="5367337"/>
            <a:ext cx="28575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3" name="Google Shape;22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75" y="20574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3238500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2475" y="441960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5600700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771525" y="581025"/>
            <a:ext cx="11381422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MANEJO DE ERRORES Y TECH</a:t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581025" y="581025"/>
            <a:ext cx="47625" cy="6762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/>
          <p:nvPr/>
        </p:nvSpPr>
        <p:spPr>
          <a:xfrm>
            <a:off x="581025" y="2757487"/>
            <a:ext cx="5324475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1057275" y="2947987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Estructura: id, nombre, duración, url</a:t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581025" y="2757487"/>
            <a:ext cx="28575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581025" y="3633787"/>
            <a:ext cx="5324475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1057275" y="3824287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Entidades CRUD completas</a:t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581025" y="3633787"/>
            <a:ext cx="28575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581025" y="4510087"/>
            <a:ext cx="5324475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1057275" y="4700587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Uso de Endpoints con distintos mensajes</a:t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581025" y="4510087"/>
            <a:ext cx="28575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6286500" y="2605087"/>
            <a:ext cx="5324475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6762750" y="2795587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Uso de arreglos para datos</a:t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6286500" y="2605087"/>
            <a:ext cx="28575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6286500" y="3481387"/>
            <a:ext cx="5324475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6762750" y="3671887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Validaciones básicas de registro</a:t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6286500" y="3481387"/>
            <a:ext cx="28575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6286500" y="4357687"/>
            <a:ext cx="5324475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6762750" y="4548187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Ejecución local (Node.js + Express)</a:t>
            </a: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6286500" y="4357687"/>
            <a:ext cx="28575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2" name="Google Shape;25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29908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38671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47434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7950" y="28384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7950" y="37147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7950" y="4591050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771525" y="581025"/>
            <a:ext cx="11381422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FUNCIONALIDADES INCLUIDAS</a:t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581025" y="581025"/>
            <a:ext cx="47625" cy="6762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95462"/>
            <a:ext cx="532447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95462"/>
            <a:ext cx="532447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148137"/>
            <a:ext cx="532447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148137"/>
            <a:ext cx="5324475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 txBox="1"/>
          <p:nvPr/>
        </p:nvSpPr>
        <p:spPr>
          <a:xfrm>
            <a:off x="876300" y="2090737"/>
            <a:ext cx="497062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CA5A5"/>
                </a:solidFill>
                <a:latin typeface="Oswald"/>
                <a:ea typeface="Oswald"/>
                <a:cs typeface="Oswald"/>
                <a:sym typeface="Oswald"/>
              </a:rPr>
              <a:t>SIN BASE DE DATOS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876300" y="2671762"/>
            <a:ext cx="4733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No se guardan canciones de forma permanente. Persistencia en memoria.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6581775" y="2090737"/>
            <a:ext cx="497062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CA5A5"/>
                </a:solidFill>
                <a:latin typeface="Oswald"/>
                <a:ea typeface="Oswald"/>
                <a:cs typeface="Oswald"/>
                <a:sym typeface="Oswald"/>
              </a:rPr>
              <a:t>SIN FRONTEND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6581775" y="2671762"/>
            <a:ext cx="4733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No interfaz gráfica. Solo acceso a endpoints (se planea para final).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876300" y="4443412"/>
            <a:ext cx="497062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CA5A5"/>
                </a:solidFill>
                <a:latin typeface="Oswald"/>
                <a:ea typeface="Oswald"/>
                <a:cs typeface="Oswald"/>
                <a:sym typeface="Oswald"/>
              </a:rPr>
              <a:t>SIN FILTROS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876300" y="5024437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No búsqueda avanzada por filtros específicos.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6581775" y="4443412"/>
            <a:ext cx="497062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CA5A5"/>
                </a:solidFill>
                <a:latin typeface="Oswald"/>
                <a:ea typeface="Oswald"/>
                <a:cs typeface="Oswald"/>
                <a:sym typeface="Oswald"/>
              </a:rPr>
              <a:t>SIN USUARIOS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6581775" y="5024437"/>
            <a:ext cx="4733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No sistema de login o permisos. Acceso directo a operaciones.</a:t>
            </a:r>
            <a:endParaRPr/>
          </a:p>
        </p:txBody>
      </p:sp>
      <p:pic>
        <p:nvPicPr>
          <p:cNvPr descr="image.png" id="277" name="Google Shape;27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176462"/>
            <a:ext cx="257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176462"/>
            <a:ext cx="3238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4529137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4529137"/>
            <a:ext cx="3524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771525" y="581025"/>
            <a:ext cx="11381422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FUERA DEL ALCANCE (POR AHORA)</a:t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581025" y="581025"/>
            <a:ext cx="47625" cy="6762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1013519"/>
            <a:ext cx="7620000" cy="483096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3"/>
          <p:cNvSpPr txBox="1"/>
          <p:nvPr/>
        </p:nvSpPr>
        <p:spPr>
          <a:xfrm>
            <a:off x="2705576" y="1594544"/>
            <a:ext cx="6780847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CIERRE DEL MVP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2867025" y="2708969"/>
            <a:ext cx="6457950" cy="1706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El MVP demuestra el funcionamiento correcto del backend y el manejo de una entidad mediante operaciones CRUD sin persistencia de datos ni interfaz gráfica.</a:t>
            </a:r>
            <a:endParaRPr/>
          </a:p>
        </p:txBody>
      </p:sp>
      <p:pic>
        <p:nvPicPr>
          <p:cNvPr descr="image.png" id="291" name="Google Shape;29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7875" y="4834830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